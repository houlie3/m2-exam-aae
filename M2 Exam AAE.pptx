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Economica"/>
      <p:regular r:id="rId16"/>
      <p:bold r:id="rId17"/>
      <p:italic r:id="rId18"/>
      <p:boldItalic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6.xml"/><Relationship Id="rId22" Type="http://schemas.openxmlformats.org/officeDocument/2006/relationships/font" Target="fonts/OpenSans-italic.fntdata"/><Relationship Id="rId10" Type="http://schemas.openxmlformats.org/officeDocument/2006/relationships/slide" Target="slides/slide5.xml"/><Relationship Id="rId21" Type="http://schemas.openxmlformats.org/officeDocument/2006/relationships/font" Target="fonts/Open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Economica-bold.fntdata"/><Relationship Id="rId16" Type="http://schemas.openxmlformats.org/officeDocument/2006/relationships/font" Target="fonts/Economic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Economica-boldItalic.fntdata"/><Relationship Id="rId6" Type="http://schemas.openxmlformats.org/officeDocument/2006/relationships/slide" Target="slides/slide1.xml"/><Relationship Id="rId18" Type="http://schemas.openxmlformats.org/officeDocument/2006/relationships/font" Target="fonts/Economic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309582404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309582404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309582404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309582404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309582404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309582404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309582404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309582404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309582404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309582404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309582404_2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309582404_2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309582404_2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309582404_2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309582404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309582404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309582404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309582404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latin typeface="Times New Roman"/>
                <a:ea typeface="Times New Roman"/>
                <a:cs typeface="Times New Roman"/>
                <a:sym typeface="Times New Roman"/>
              </a:rPr>
              <a:t>M2 Exam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latin typeface="Times New Roman"/>
                <a:ea typeface="Times New Roman"/>
                <a:cs typeface="Times New Roman"/>
                <a:sym typeface="Times New Roman"/>
              </a:rPr>
              <a:t>Ali Moghadas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latin typeface="Times New Roman"/>
                <a:ea typeface="Times New Roman"/>
                <a:cs typeface="Times New Roman"/>
                <a:sym typeface="Times New Roman"/>
              </a:rPr>
              <a:t>Emina Gracanin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latin typeface="Times New Roman"/>
                <a:ea typeface="Times New Roman"/>
                <a:cs typeface="Times New Roman"/>
                <a:sym typeface="Times New Roman"/>
              </a:rPr>
              <a:t>Amalie Hougaard Lang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latin typeface="Times New Roman"/>
                <a:ea typeface="Times New Roman"/>
                <a:cs typeface="Times New Roman"/>
                <a:sym typeface="Times New Roman"/>
              </a:rPr>
              <a:t>Problem and Dataset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a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identify, categorize, and analyze </a:t>
            </a: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risk-related information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corporate earnings transcripts using a </a:t>
            </a: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Language Model (LLM)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construct a </a:t>
            </a: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graph (KG)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representing the network of risks across companies.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a" sz="1300">
                <a:solidFill>
                  <a:schemeClr val="dk1"/>
                </a:solidFill>
              </a:rPr>
              <a:t>Dataset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da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kurry/sp500_earnings_transcripts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(Hugging Face)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Content: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S&amp;P 500 companies’ quarterly earnings call transcripts.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Fields: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da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symbol, company_name, quarter, year, date, content,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etc.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Subset: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Randomly selected </a:t>
            </a: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transcripts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experimentation and scalability testing.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Rationale: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manageable sample for LLM inference cost and runtime, while maintaining d</a:t>
            </a:r>
            <a:r>
              <a:rPr lang="da" sz="1100">
                <a:solidFill>
                  <a:schemeClr val="dk1"/>
                </a:solidFill>
              </a:rPr>
              <a:t>iversity across sectors.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latin typeface="Times New Roman"/>
                <a:ea typeface="Times New Roman"/>
                <a:cs typeface="Times New Roman"/>
                <a:sym typeface="Times New Roman"/>
              </a:rPr>
              <a:t>Pipeline Overview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da" sz="5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LLM-Based Risk Sentence Filtering</a:t>
            </a:r>
            <a:endParaRPr b="1" sz="5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da" sz="4400">
                <a:latin typeface="Times New Roman"/>
                <a:ea typeface="Times New Roman"/>
                <a:cs typeface="Times New Roman"/>
                <a:sym typeface="Times New Roman"/>
              </a:rPr>
              <a:t>Goal: </a:t>
            </a:r>
            <a:r>
              <a:rPr lang="da" sz="4400">
                <a:latin typeface="Times New Roman"/>
                <a:ea typeface="Times New Roman"/>
                <a:cs typeface="Times New Roman"/>
                <a:sym typeface="Times New Roman"/>
              </a:rPr>
              <a:t>Token Budget Controlling.</a:t>
            </a:r>
            <a:endParaRPr b="1" sz="4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da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Tool:</a:t>
            </a:r>
            <a:r>
              <a:rPr lang="da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da" sz="4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spaCy</a:t>
            </a:r>
            <a:r>
              <a:rPr lang="da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sentence segmentation.</a:t>
            </a:r>
            <a:endParaRPr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da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Logic:</a:t>
            </a:r>
            <a:r>
              <a:rPr lang="da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Sentences containing </a:t>
            </a:r>
            <a:r>
              <a:rPr i="1" lang="da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risk-related keywords</a:t>
            </a:r>
            <a:r>
              <a:rPr lang="da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(e.g., “uncertainty”, “safety”, “liability”, “pollution”) were retained.</a:t>
            </a:r>
            <a:endParaRPr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da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da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condensed transcript (</a:t>
            </a:r>
            <a:r>
              <a:rPr lang="da" sz="4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filtered_text</a:t>
            </a:r>
            <a:r>
              <a:rPr lang="da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focusing only on risk discussions.</a:t>
            </a:r>
            <a:endParaRPr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da" sz="5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Risk Extraction via LLM</a:t>
            </a:r>
            <a:endParaRPr b="1" sz="5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da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Model:</a:t>
            </a:r>
            <a:r>
              <a:rPr lang="da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da" sz="4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gemini-2.5-flash</a:t>
            </a:r>
            <a:r>
              <a:rPr lang="da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(through the Gemini API).</a:t>
            </a:r>
            <a:endParaRPr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da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Prompt:</a:t>
            </a:r>
            <a:r>
              <a:rPr lang="da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Instructed the LLM to extract structured JSON objects of the form:</a:t>
            </a:r>
            <a:endParaRPr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da" sz="4400">
                <a:solidFill>
                  <a:schemeClr val="dk1"/>
                </a:solidFill>
              </a:rPr>
              <a:t>·</a:t>
            </a:r>
            <a:r>
              <a:rPr lang="da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da" sz="4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4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da" sz="4400">
                <a:solidFill>
                  <a:schemeClr val="dk1"/>
                </a:solidFill>
              </a:rPr>
              <a:t>·</a:t>
            </a:r>
            <a:r>
              <a:rPr lang="da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da" sz="4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"company": "AAPL",</a:t>
            </a:r>
            <a:endParaRPr sz="4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da" sz="4400">
                <a:solidFill>
                  <a:schemeClr val="dk1"/>
                </a:solidFill>
              </a:rPr>
              <a:t>·</a:t>
            </a:r>
            <a:r>
              <a:rPr lang="da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da" sz="4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"risk_type": "operational",</a:t>
            </a:r>
            <a:endParaRPr sz="4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da" sz="4400">
                <a:solidFill>
                  <a:schemeClr val="dk1"/>
                </a:solidFill>
              </a:rPr>
              <a:t>·</a:t>
            </a:r>
            <a:r>
              <a:rPr lang="da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da" sz="4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"sentence": "We faced supply chain disruptions due to the pandemic."</a:t>
            </a:r>
            <a:endParaRPr sz="4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da" sz="4400">
                <a:solidFill>
                  <a:schemeClr val="dk1"/>
                </a:solidFill>
              </a:rPr>
              <a:t>·</a:t>
            </a:r>
            <a:r>
              <a:rPr lang="da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da" sz="4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4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da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Safety:</a:t>
            </a:r>
            <a:r>
              <a:rPr lang="da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Implemented retry logic, exponential backoff, and JSON cleaning to ensure reliable responses.</a:t>
            </a:r>
            <a:endParaRPr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da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da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Structured risk records across companies.</a:t>
            </a:r>
            <a:endParaRPr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latin typeface="Times New Roman"/>
                <a:ea typeface="Times New Roman"/>
                <a:cs typeface="Times New Roman"/>
                <a:sym typeface="Times New Roman"/>
              </a:rPr>
              <a:t>Pipeline Overview 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a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Knowledge Graph Construction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Nodes: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Companies and risk types.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Edges: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Relationships formed when a company mentions a specific risk.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Visualization: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NetworkX or PyVis used to render the </a:t>
            </a: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company–risk network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showing which firms share exposure to similar risks.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a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 Analysis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Frequency Analysis: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Count of risk mentions per category and company.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Centrality Measures: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Identified companies central to certain risk clusters.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Insights: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Visualized patterns of common risk exposure across the S&amp;P 500 subset.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latin typeface="Times New Roman"/>
                <a:ea typeface="Times New Roman"/>
                <a:cs typeface="Times New Roman"/>
                <a:sym typeface="Times New Roman"/>
              </a:rPr>
              <a:t>Main 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a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risk themes across sectors included </a:t>
            </a: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volatility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 chain disruption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regulatory compliance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and technology companies showed strong overlaps in </a:t>
            </a: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cybersecurity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protection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risks.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Environmental risks were less frequent but concentrated in energy and materials firms.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Several generic “forward-looking statement” disclaimers appeared as recurrent phrases — highlighting a need for semantic filtering beyond keyword matching.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latin typeface="Times New Roman"/>
                <a:ea typeface="Times New Roman"/>
                <a:cs typeface="Times New Roman"/>
                <a:sym typeface="Times New Roman"/>
              </a:rPr>
              <a:t>Visualization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a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Highlights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da" sz="1100">
                <a:latin typeface="Times New Roman"/>
                <a:ea typeface="Times New Roman"/>
                <a:cs typeface="Times New Roman"/>
                <a:sym typeface="Times New Roman"/>
              </a:rPr>
              <a:t>Cluster: </a:t>
            </a:r>
            <a:r>
              <a:rPr lang="da" sz="1100">
                <a:latin typeface="Times New Roman"/>
                <a:ea typeface="Times New Roman"/>
                <a:cs typeface="Times New Roman"/>
                <a:sym typeface="Times New Roman"/>
              </a:rPr>
              <a:t>Cluster of embedded data with semantic similarity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 Chart: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Frequency of top 10 risk types across the dataset.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Graph: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Nodes sized by number of unique risk connections (company–risk edges).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Word Cloud: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Dominant risk terms in the filtered corpus.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9" title="semantic_cluster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1463"/>
            <a:ext cx="8323650" cy="496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0" title="top_risk_typ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9675" y="2222937"/>
            <a:ext cx="5688550" cy="281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 title="company_risk_network_top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" y="-48950"/>
            <a:ext cx="4156424" cy="3054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1" title="company_company_netwo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94250" y="0"/>
            <a:ext cx="4779926" cy="3175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 title="weighted_bipartite_networ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5997" y="1121900"/>
            <a:ext cx="5000751" cy="356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latin typeface="Times New Roman"/>
                <a:ea typeface="Times New Roman"/>
                <a:cs typeface="Times New Roman"/>
                <a:sym typeface="Times New Roman"/>
              </a:rPr>
              <a:t>Conclusion and Open Questions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da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pipeline successfully extracted structured, interpretable risk information from unstructured text.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Combining </a:t>
            </a: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rule-based keyword filtering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LLM-based extraction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proved efficient and cost-effective.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resulting knowledge graph enables visual and quantitative insights into </a:t>
            </a:r>
            <a:r>
              <a:rPr b="1"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cross-company risk exposure</a:t>
            </a: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da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initial keyword filter may omit implicit risks (e.g., “economic slowdown” without the word “risk”).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repeated or generic legal disclaimers inflated certain categories.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 outputs depend on prompt design and token context limits.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da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Questions / Future Work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can we improve semantic coverage — e.g., using contextual embeddings instead of keyword filters?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we integrate financial data (e.g., stock performance) to correlate risk mentions with market behavior?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da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Could temporal analysis reveal trends in emerging risks across quarters?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